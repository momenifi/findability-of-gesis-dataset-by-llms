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3333333" cy="7500000" type="wide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0000" y="280000"/>
            <a:ext cx="123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400" b="1"/>
              <a:t>LLM-Based Findability of GESIS Datasets</a:t>
            </a:r>
            <a:endParaRPr lang="en-US" sz="3400"/>
          </a:p>
        </p:txBody>
      </p:sp>
      <p:sp>
        <p:nvSpPr>
          <p:cNvPr id="3" name="Goal"/>
          <p:cNvSpPr txBox="1"/>
          <p:nvPr/>
        </p:nvSpPr>
        <p:spPr>
          <a:xfrm>
            <a:off x="650000" y="1250000"/>
            <a:ext cx="5800000" cy="2250000"/>
          </a:xfrm>
          <a:prstGeom prst="rect">
            <a:avLst/>
          </a:prstGeom>
          <a:solidFill>
            <a:srgbClr val="EEF3F8"/>
          </a:solidFill>
          <a:ln>
            <a:solidFill>
              <a:srgbClr val="C9D6E2"/>
            </a:solidFill>
          </a:ln>
        </p:spPr>
        <p:txBody>
          <a:bodyPr wrap="square"/>
          <a:lstStyle/>
          <a:p>
            <a:r>
              <a:rPr lang="en-US" sz="2050" b="1"/>
              <a:t>Goal</a:t>
            </a:r>
            <a:endParaRPr lang="en-US" sz="2050"/>
          </a:p>
          <a:p>
            <a:r>
              <a:rPr lang="en-US" sz="2050"/>
              <a:t>Evaluate whether LLMs with web search can discover GESIS datasets.</a:t>
            </a:r>
            <a:endParaRPr lang="en-US" sz="2050"/>
          </a:p>
          <a:p>
            <a:r>
              <a:rPr lang="en-US" sz="2050"/>
              <a:t>Sample: 100 GESIS datasets.</a:t>
            </a:r>
            <a:endParaRPr lang="en-US" sz="2050"/>
          </a:p>
          <a:p>
            <a:r>
              <a:rPr lang="en-US" sz="2050"/>
              <a:t>Evaluation corpus: full GESIS metadata.</a:t>
            </a:r>
            <a:endParaRPr lang="en-US" sz="2050"/>
          </a:p>
          <a:p>
            <a:r>
              <a:rPr lang="en-US" sz="2050"/>
              <a:t>Providers: OpenAI API and Gemini; OpenWebUI as context check.</a:t>
            </a:r>
            <a:endParaRPr lang="en-US" sz="2050"/>
          </a:p>
        </p:txBody>
      </p:sp>
      <p:sp>
        <p:nvSpPr>
          <p:cNvPr id="4" name="Evaluation"/>
          <p:cNvSpPr txBox="1"/>
          <p:nvPr/>
        </p:nvSpPr>
        <p:spPr>
          <a:xfrm>
            <a:off x="6850000" y="1250000"/>
            <a:ext cx="5800000" cy="2250000"/>
          </a:xfrm>
          <a:prstGeom prst="rect">
            <a:avLst/>
          </a:prstGeom>
          <a:solidFill>
            <a:srgbClr val="F7F7F7"/>
          </a:solidFill>
          <a:ln>
            <a:solidFill>
              <a:srgbClr val="D8D8D8"/>
            </a:solidFill>
          </a:ln>
        </p:spPr>
        <p:txBody>
          <a:bodyPr wrap="square"/>
          <a:lstStyle/>
          <a:p>
            <a:r>
              <a:rPr lang="en-US" sz="1950" b="1"/>
              <a:t>Evaluation</a:t>
            </a:r>
            <a:endParaRPr lang="en-US" sz="1950"/>
          </a:p>
          <a:p>
            <a:r>
              <a:rPr lang="en-US" sz="1950"/>
              <a:t>Strict Source: exact sampled dataset via DOI/URL/ID.</a:t>
            </a:r>
            <a:endParaRPr lang="en-US" sz="1950"/>
          </a:p>
          <a:p>
            <a:r>
              <a:rPr lang="en-US" sz="1950"/>
              <a:t>Source: exact sampled dataset via identifier or title match.</a:t>
            </a:r>
            <a:endParaRPr lang="en-US" sz="1950"/>
          </a:p>
          <a:p>
            <a:r>
              <a:rPr lang="en-US" sz="1950"/>
              <a:t>Strict GESIS: any relevant GESIS dataset via DOI/URL/ID.</a:t>
            </a:r>
            <a:endParaRPr lang="en-US" sz="1950"/>
          </a:p>
          <a:p>
            <a:r>
              <a:rPr lang="en-US" sz="1950"/>
              <a:t>GESIS: any relevant GESIS dataset via identifier or title match.</a:t>
            </a:r>
            <a:endParaRPr lang="en-US" sz="1950"/>
          </a:p>
        </p:txBody>
      </p:sp>
      <p:sp>
        <p:nvSpPr>
          <p:cNvPr id="5" name="Framing"/>
          <p:cNvSpPr txBox="1"/>
          <p:nvPr/>
        </p:nvSpPr>
        <p:spPr>
          <a:xfrm>
            <a:off x="650000" y="4150000"/>
            <a:ext cx="12000000" cy="1600000"/>
          </a:xfrm>
          <a:prstGeom prst="rect">
            <a:avLst/>
          </a:prstGeom>
          <a:solidFill>
            <a:srgbClr val="FFF6E8"/>
          </a:solidFill>
          <a:ln>
            <a:solidFill>
              <a:srgbClr val="E6C88F"/>
            </a:solidFill>
          </a:ln>
        </p:spPr>
        <p:txBody>
          <a:bodyPr wrap="square"/>
          <a:lstStyle/>
          <a:p>
            <a:r>
              <a:rPr lang="en-US" sz="2200" b="1"/>
              <a:t>Framing</a:t>
            </a:r>
            <a:endParaRPr lang="en-US" sz="2200"/>
          </a:p>
          <a:p>
            <a:r>
              <a:rPr lang="en-US" sz="2200"/>
              <a:t>The study moves from SEO to GEO: not only whether dataset pages are indexed, but whether generative search systems can discover, identify, and cite them.</a:t>
            </a:r>
            <a:endParaRPr lang="en-US" sz="2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0000" y="280000"/>
            <a:ext cx="123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400" b="1"/>
              <a:t>Prompt Variants</a:t>
            </a:r>
            <a:endParaRPr lang="en-US" sz="3400"/>
          </a:p>
        </p:txBody>
      </p:sp>
      <p:sp>
        <p:nvSpPr>
          <p:cNvPr id="3" name="VariantCell0_0"/>
          <p:cNvSpPr txBox="1"/>
          <p:nvPr/>
        </p:nvSpPr>
        <p:spPr>
          <a:xfrm>
            <a:off x="840000" y="1250000"/>
            <a:ext cx="2050000" cy="650000"/>
          </a:xfrm>
          <a:prstGeom prst="rect">
            <a:avLst/>
          </a:prstGeom>
          <a:solidFill>
            <a:srgbClr val="2F6F9F"/>
          </a:solidFill>
          <a:ln>
            <a:solidFill>
              <a:srgbClr val="D8D8D8"/>
            </a:solidFill>
          </a:ln>
        </p:spPr>
        <p:txBody>
          <a:bodyPr wrap="square"/>
          <a:lstStyle/>
          <a:p>
            <a:r>
              <a:rPr lang="en-US" sz="1700" b="1"/>
              <a:t>Variant</a:t>
            </a:r>
            <a:endParaRPr lang="en-US" sz="1700"/>
          </a:p>
        </p:txBody>
      </p:sp>
      <p:sp>
        <p:nvSpPr>
          <p:cNvPr id="4" name="VariantCell0_1"/>
          <p:cNvSpPr txBox="1"/>
          <p:nvPr/>
        </p:nvSpPr>
        <p:spPr>
          <a:xfrm>
            <a:off x="2890000" y="1250000"/>
            <a:ext cx="4300000" cy="650000"/>
          </a:xfrm>
          <a:prstGeom prst="rect">
            <a:avLst/>
          </a:prstGeom>
          <a:solidFill>
            <a:srgbClr val="2F6F9F"/>
          </a:solidFill>
          <a:ln>
            <a:solidFill>
              <a:srgbClr val="D8D8D8"/>
            </a:solidFill>
          </a:ln>
        </p:spPr>
        <p:txBody>
          <a:bodyPr wrap="square"/>
          <a:lstStyle/>
          <a:p>
            <a:r>
              <a:rPr lang="en-US" sz="1700" b="1"/>
              <a:t>Query Type</a:t>
            </a:r>
            <a:endParaRPr lang="en-US" sz="1700"/>
          </a:p>
        </p:txBody>
      </p:sp>
      <p:sp>
        <p:nvSpPr>
          <p:cNvPr id="5" name="VariantCell0_2"/>
          <p:cNvSpPr txBox="1"/>
          <p:nvPr/>
        </p:nvSpPr>
        <p:spPr>
          <a:xfrm>
            <a:off x="7190000" y="1250000"/>
            <a:ext cx="5300000" cy="650000"/>
          </a:xfrm>
          <a:prstGeom prst="rect">
            <a:avLst/>
          </a:prstGeom>
          <a:solidFill>
            <a:srgbClr val="2F6F9F"/>
          </a:solidFill>
          <a:ln>
            <a:solidFill>
              <a:srgbClr val="D8D8D8"/>
            </a:solidFill>
          </a:ln>
        </p:spPr>
        <p:txBody>
          <a:bodyPr wrap="square"/>
          <a:lstStyle/>
          <a:p>
            <a:r>
              <a:rPr lang="en-US" sz="1700" b="1"/>
              <a:t>Purpose</a:t>
            </a:r>
            <a:endParaRPr lang="en-US" sz="1700"/>
          </a:p>
        </p:txBody>
      </p:sp>
      <p:sp>
        <p:nvSpPr>
          <p:cNvPr id="6" name="VariantCell1_0"/>
          <p:cNvSpPr txBox="1"/>
          <p:nvPr/>
        </p:nvSpPr>
        <p:spPr>
          <a:xfrm>
            <a:off x="840000" y="1900000"/>
            <a:ext cx="2050000" cy="650000"/>
          </a:xfrm>
          <a:prstGeom prst="rect">
            <a:avLst/>
          </a:prstGeom>
          <a:solidFill>
            <a:srgbClr val="EEF3F8"/>
          </a:solidFill>
          <a:ln>
            <a:solidFill>
              <a:srgbClr val="D8D8D8"/>
            </a:solidFill>
          </a:ln>
        </p:spPr>
        <p:txBody>
          <a:bodyPr wrap="square"/>
          <a:lstStyle/>
          <a:p>
            <a:r>
              <a:rPr lang="en-US" sz="1600" b="1"/>
              <a:t>V3 Title</a:t>
            </a:r>
            <a:endParaRPr lang="en-US" sz="1600"/>
          </a:p>
        </p:txBody>
      </p:sp>
      <p:sp>
        <p:nvSpPr>
          <p:cNvPr id="7" name="VariantCell1_1"/>
          <p:cNvSpPr txBox="1"/>
          <p:nvPr/>
        </p:nvSpPr>
        <p:spPr>
          <a:xfrm>
            <a:off x="2890000" y="1900000"/>
            <a:ext cx="4300000" cy="650000"/>
          </a:xfrm>
          <a:prstGeom prst="rect">
            <a:avLst/>
          </a:prstGeom>
          <a:solidFill>
            <a:srgbClr val="EEF3F8"/>
          </a:solidFill>
          <a:ln>
            <a:solidFill>
              <a:srgbClr val="D8D8D8"/>
            </a:solidFill>
          </a:ln>
        </p:spPr>
        <p:txBody>
          <a:bodyPr wrap="square"/>
          <a:lstStyle/>
          <a:p>
            <a:r>
              <a:rPr lang="en-US" sz="1600" b="1"/>
              <a:t>dataset title only</a:t>
            </a:r>
            <a:endParaRPr lang="en-US" sz="1600"/>
          </a:p>
        </p:txBody>
      </p:sp>
      <p:sp>
        <p:nvSpPr>
          <p:cNvPr id="8" name="VariantCell1_2"/>
          <p:cNvSpPr txBox="1"/>
          <p:nvPr/>
        </p:nvSpPr>
        <p:spPr>
          <a:xfrm>
            <a:off x="7190000" y="1900000"/>
            <a:ext cx="5300000" cy="650000"/>
          </a:xfrm>
          <a:prstGeom prst="rect">
            <a:avLst/>
          </a:prstGeom>
          <a:solidFill>
            <a:srgbClr val="EEF3F8"/>
          </a:solidFill>
          <a:ln>
            <a:solidFill>
              <a:srgbClr val="D8D8D8"/>
            </a:solidFill>
          </a:ln>
        </p:spPr>
        <p:txBody>
          <a:bodyPr wrap="square"/>
          <a:lstStyle/>
          <a:p>
            <a:r>
              <a:rPr lang="en-US" sz="1600" b="1"/>
              <a:t>discoverability baseline</a:t>
            </a:r>
            <a:endParaRPr lang="en-US" sz="1600"/>
          </a:p>
        </p:txBody>
      </p:sp>
      <p:sp>
        <p:nvSpPr>
          <p:cNvPr id="9" name="VariantCell2_0"/>
          <p:cNvSpPr txBox="1"/>
          <p:nvPr/>
        </p:nvSpPr>
        <p:spPr>
          <a:xfrm>
            <a:off x="840000" y="2550000"/>
            <a:ext cx="2050000" cy="650000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txBody>
          <a:bodyPr wrap="square"/>
          <a:lstStyle/>
          <a:p>
            <a:r>
              <a:rPr lang="en-US" sz="1600" b="1"/>
              <a:t>V1 Metadata</a:t>
            </a:r>
            <a:endParaRPr lang="en-US" sz="1600"/>
          </a:p>
        </p:txBody>
      </p:sp>
      <p:sp>
        <p:nvSpPr>
          <p:cNvPr id="10" name="VariantCell2_1"/>
          <p:cNvSpPr txBox="1"/>
          <p:nvPr/>
        </p:nvSpPr>
        <p:spPr>
          <a:xfrm>
            <a:off x="2890000" y="2550000"/>
            <a:ext cx="4300000" cy="650000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txBody>
          <a:bodyPr wrap="square"/>
          <a:lstStyle/>
          <a:p>
            <a:r>
              <a:rPr lang="en-US" sz="1600" b="1"/>
              <a:t>all topics + country + decade</a:t>
            </a:r>
            <a:endParaRPr lang="en-US" sz="1600"/>
          </a:p>
        </p:txBody>
      </p:sp>
      <p:sp>
        <p:nvSpPr>
          <p:cNvPr id="11" name="VariantCell2_2"/>
          <p:cNvSpPr txBox="1"/>
          <p:nvPr/>
        </p:nvSpPr>
        <p:spPr>
          <a:xfrm>
            <a:off x="7190000" y="2550000"/>
            <a:ext cx="5300000" cy="650000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txBody>
          <a:bodyPr wrap="square"/>
          <a:lstStyle/>
          <a:p>
            <a:r>
              <a:rPr lang="en-US" sz="1600" b="1"/>
              <a:t>structured metadata search</a:t>
            </a:r>
            <a:endParaRPr lang="en-US" sz="1600"/>
          </a:p>
        </p:txBody>
      </p:sp>
      <p:sp>
        <p:nvSpPr>
          <p:cNvPr id="12" name="VariantCell3_0"/>
          <p:cNvSpPr txBox="1"/>
          <p:nvPr/>
        </p:nvSpPr>
        <p:spPr>
          <a:xfrm>
            <a:off x="840000" y="3200000"/>
            <a:ext cx="2050000" cy="650000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txBody>
          <a:bodyPr wrap="square"/>
          <a:lstStyle/>
          <a:p>
            <a:r>
              <a:rPr lang="en-US" sz="1600" b="1"/>
              <a:t>V2 Topic</a:t>
            </a:r>
            <a:endParaRPr lang="en-US" sz="1600"/>
          </a:p>
        </p:txBody>
      </p:sp>
      <p:sp>
        <p:nvSpPr>
          <p:cNvPr id="13" name="VariantCell3_1"/>
          <p:cNvSpPr txBox="1"/>
          <p:nvPr/>
        </p:nvSpPr>
        <p:spPr>
          <a:xfrm>
            <a:off x="2890000" y="3200000"/>
            <a:ext cx="4300000" cy="650000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txBody>
          <a:bodyPr wrap="square"/>
          <a:lstStyle/>
          <a:p>
            <a:r>
              <a:rPr lang="en-US" sz="1600" b="1"/>
              <a:t>one topic + country + decade</a:t>
            </a:r>
            <a:endParaRPr lang="en-US" sz="1600"/>
          </a:p>
        </p:txBody>
      </p:sp>
      <p:sp>
        <p:nvSpPr>
          <p:cNvPr id="14" name="VariantCell3_2"/>
          <p:cNvSpPr txBox="1"/>
          <p:nvPr/>
        </p:nvSpPr>
        <p:spPr>
          <a:xfrm>
            <a:off x="7190000" y="3200000"/>
            <a:ext cx="5300000" cy="650000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txBody>
          <a:bodyPr wrap="square"/>
          <a:lstStyle/>
          <a:p>
            <a:r>
              <a:rPr lang="en-US" sz="1600" b="1"/>
              <a:t>simpler topic signal</a:t>
            </a:r>
            <a:endParaRPr lang="en-US" sz="1600"/>
          </a:p>
        </p:txBody>
      </p:sp>
      <p:sp>
        <p:nvSpPr>
          <p:cNvPr id="15" name="VariantCell4_0"/>
          <p:cNvSpPr txBox="1"/>
          <p:nvPr/>
        </p:nvSpPr>
        <p:spPr>
          <a:xfrm>
            <a:off x="840000" y="3850000"/>
            <a:ext cx="2050000" cy="650000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txBody>
          <a:bodyPr wrap="square"/>
          <a:lstStyle/>
          <a:p>
            <a:r>
              <a:rPr lang="en-US" sz="1600" b="1"/>
              <a:t>V6 Need</a:t>
            </a:r>
            <a:endParaRPr lang="en-US" sz="1600"/>
          </a:p>
        </p:txBody>
      </p:sp>
      <p:sp>
        <p:nvSpPr>
          <p:cNvPr id="16" name="VariantCell4_1"/>
          <p:cNvSpPr txBox="1"/>
          <p:nvPr/>
        </p:nvSpPr>
        <p:spPr>
          <a:xfrm>
            <a:off x="2890000" y="3850000"/>
            <a:ext cx="4300000" cy="650000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txBody>
          <a:bodyPr wrap="square"/>
          <a:lstStyle/>
          <a:p>
            <a:r>
              <a:rPr lang="en-US" sz="1600" b="1"/>
              <a:t>V1 + abstract-derived query</a:t>
            </a:r>
            <a:endParaRPr lang="en-US" sz="1600"/>
          </a:p>
        </p:txBody>
      </p:sp>
      <p:sp>
        <p:nvSpPr>
          <p:cNvPr id="17" name="VariantCell4_2"/>
          <p:cNvSpPr txBox="1"/>
          <p:nvPr/>
        </p:nvSpPr>
        <p:spPr>
          <a:xfrm>
            <a:off x="7190000" y="3850000"/>
            <a:ext cx="5300000" cy="650000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txBody>
          <a:bodyPr wrap="square"/>
          <a:lstStyle/>
          <a:p>
            <a:r>
              <a:rPr lang="en-US" sz="1600" b="1"/>
              <a:t>natural research need</a:t>
            </a:r>
            <a:endParaRPr lang="en-US" sz="1600"/>
          </a:p>
        </p:txBody>
      </p:sp>
      <p:sp>
        <p:nvSpPr>
          <p:cNvPr id="25" name="VariantNote"/>
          <p:cNvSpPr txBox="1"/>
          <p:nvPr/>
        </p:nvSpPr>
        <p:spPr>
          <a:xfrm>
            <a:off x="650000" y="5250000"/>
            <a:ext cx="12000000" cy="1000000"/>
          </a:xfrm>
          <a:prstGeom prst="rect">
            <a:avLst/>
          </a:prstGeom>
          <a:solidFill>
            <a:srgbClr val="FFF6E8"/>
          </a:solidFill>
          <a:ln>
            <a:solidFill>
              <a:srgbClr val="E6C88F"/>
            </a:solidFill>
          </a:ln>
        </p:spPr>
        <p:txBody>
          <a:bodyPr wrap="square"/>
          <a:lstStyle/>
          <a:p>
            <a:r>
              <a:rPr lang="en-US" sz="2000" b="1"/>
              <a:t>Interpretation: V3 asks whether the dataset is discoverable at all. V6 asks whether richer natural-language context helps when the title is unknown.</a:t>
            </a:r>
            <a:endParaRPr lang="en-US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0000" y="280000"/>
            <a:ext cx="123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400" b="1"/>
              <a:t>Main Results: OpenAI vs Gemini</a:t>
            </a:r>
            <a:endParaRPr lang="en-US" sz="3400"/>
          </a:p>
        </p:txBody>
      </p:sp>
      <p:sp>
        <p:nvSpPr>
          <p:cNvPr id="3" name="TableCell0_0"/>
          <p:cNvSpPr txBox="1"/>
          <p:nvPr/>
        </p:nvSpPr>
        <p:spPr>
          <a:xfrm>
            <a:off x="840000" y="1100000"/>
            <a:ext cx="2300000" cy="460000"/>
          </a:xfrm>
          <a:prstGeom prst="rect">
            <a:avLst/>
          </a:prstGeom>
          <a:solidFill>
            <a:srgbClr val="2F6F9F"/>
          </a:solidFill>
          <a:ln>
            <a:solidFill>
              <a:srgbClr val="D8D8D8"/>
            </a:solidFill>
          </a:ln>
        </p:spPr>
        <p:txBody>
          <a:bodyPr wrap="square"/>
          <a:lstStyle/>
          <a:p>
            <a:r>
              <a:rPr lang="en-US" sz="1650" b="1"/>
              <a:t>Variant</a:t>
            </a:r>
            <a:endParaRPr lang="en-US" sz="1650"/>
          </a:p>
        </p:txBody>
      </p:sp>
      <p:sp>
        <p:nvSpPr>
          <p:cNvPr id="4" name="TableCell0_1"/>
          <p:cNvSpPr txBox="1"/>
          <p:nvPr/>
        </p:nvSpPr>
        <p:spPr>
          <a:xfrm>
            <a:off x="3140000" y="1100000"/>
            <a:ext cx="2050000" cy="460000"/>
          </a:xfrm>
          <a:prstGeom prst="rect">
            <a:avLst/>
          </a:prstGeom>
          <a:solidFill>
            <a:srgbClr val="2F6F9F"/>
          </a:solidFill>
          <a:ln>
            <a:solidFill>
              <a:srgbClr val="D8D8D8"/>
            </a:solidFill>
          </a:ln>
        </p:spPr>
        <p:txBody>
          <a:bodyPr wrap="square"/>
          <a:lstStyle/>
          <a:p>
            <a:r>
              <a:rPr lang="en-US" sz="1650" b="1"/>
              <a:t>Provider</a:t>
            </a:r>
            <a:endParaRPr lang="en-US" sz="1650"/>
          </a:p>
        </p:txBody>
      </p:sp>
      <p:sp>
        <p:nvSpPr>
          <p:cNvPr id="5" name="TableCell0_2"/>
          <p:cNvSpPr txBox="1"/>
          <p:nvPr/>
        </p:nvSpPr>
        <p:spPr>
          <a:xfrm>
            <a:off x="5190000" y="1100000"/>
            <a:ext cx="3650000" cy="460000"/>
          </a:xfrm>
          <a:prstGeom prst="rect">
            <a:avLst/>
          </a:prstGeom>
          <a:solidFill>
            <a:srgbClr val="2F6F9F"/>
          </a:solidFill>
          <a:ln>
            <a:solidFill>
              <a:srgbClr val="D8D8D8"/>
            </a:solidFill>
          </a:ln>
        </p:spPr>
        <p:txBody>
          <a:bodyPr wrap="square"/>
          <a:lstStyle/>
          <a:p>
            <a:r>
              <a:rPr lang="en-US" sz="1650" b="1"/>
              <a:t>Strict Source Hits</a:t>
            </a:r>
            <a:endParaRPr lang="en-US" sz="1650"/>
          </a:p>
        </p:txBody>
      </p:sp>
      <p:sp>
        <p:nvSpPr>
          <p:cNvPr id="6" name="TableCell0_3"/>
          <p:cNvSpPr txBox="1"/>
          <p:nvPr/>
        </p:nvSpPr>
        <p:spPr>
          <a:xfrm>
            <a:off x="8840000" y="1100000"/>
            <a:ext cx="3650000" cy="460000"/>
          </a:xfrm>
          <a:prstGeom prst="rect">
            <a:avLst/>
          </a:prstGeom>
          <a:solidFill>
            <a:srgbClr val="2F6F9F"/>
          </a:solidFill>
          <a:ln>
            <a:solidFill>
              <a:srgbClr val="D8D8D8"/>
            </a:solidFill>
          </a:ln>
        </p:spPr>
        <p:txBody>
          <a:bodyPr wrap="square"/>
          <a:lstStyle/>
          <a:p>
            <a:r>
              <a:rPr lang="en-US" sz="1650" b="1"/>
              <a:t>GESIS Hits</a:t>
            </a:r>
            <a:endParaRPr lang="en-US" sz="1650"/>
          </a:p>
        </p:txBody>
      </p:sp>
      <p:sp>
        <p:nvSpPr>
          <p:cNvPr id="7" name="TableCell1_0"/>
          <p:cNvSpPr txBox="1"/>
          <p:nvPr/>
        </p:nvSpPr>
        <p:spPr>
          <a:xfrm>
            <a:off x="840000" y="1560000"/>
            <a:ext cx="2300000" cy="460000"/>
          </a:xfrm>
          <a:prstGeom prst="rect">
            <a:avLst/>
          </a:prstGeom>
          <a:solidFill>
            <a:srgbClr val="EEF3F8"/>
          </a:solidFill>
          <a:ln>
            <a:solidFill>
              <a:srgbClr val="D8D8D8"/>
            </a:solidFill>
          </a:ln>
        </p:spPr>
        <p:txBody>
          <a:bodyPr wrap="square"/>
          <a:lstStyle/>
          <a:p>
            <a:r>
              <a:rPr lang="en-US" sz="1500" b="1"/>
              <a:t>V3 Title</a:t>
            </a:r>
            <a:endParaRPr lang="en-US" sz="1500"/>
          </a:p>
        </p:txBody>
      </p:sp>
      <p:sp>
        <p:nvSpPr>
          <p:cNvPr id="8" name="TableCell1_1"/>
          <p:cNvSpPr txBox="1"/>
          <p:nvPr/>
        </p:nvSpPr>
        <p:spPr>
          <a:xfrm>
            <a:off x="3140000" y="1560000"/>
            <a:ext cx="2050000" cy="460000"/>
          </a:xfrm>
          <a:prstGeom prst="rect">
            <a:avLst/>
          </a:prstGeom>
          <a:solidFill>
            <a:srgbClr val="EEF3F8"/>
          </a:solidFill>
          <a:ln>
            <a:solidFill>
              <a:srgbClr val="D8D8D8"/>
            </a:solidFill>
          </a:ln>
        </p:spPr>
        <p:txBody>
          <a:bodyPr wrap="square"/>
          <a:lstStyle/>
          <a:p>
            <a:r>
              <a:rPr lang="en-US" sz="1500" b="1"/>
              <a:t>OpenAI</a:t>
            </a:r>
            <a:endParaRPr lang="en-US" sz="1500"/>
          </a:p>
        </p:txBody>
      </p:sp>
      <p:sp>
        <p:nvSpPr>
          <p:cNvPr id="9" name="TableCell1_2"/>
          <p:cNvSpPr txBox="1"/>
          <p:nvPr/>
        </p:nvSpPr>
        <p:spPr>
          <a:xfrm>
            <a:off x="5190000" y="1560000"/>
            <a:ext cx="3650000" cy="460000"/>
          </a:xfrm>
          <a:prstGeom prst="rect">
            <a:avLst/>
          </a:prstGeom>
          <a:solidFill>
            <a:srgbClr val="EEF3F8"/>
          </a:solidFill>
          <a:ln>
            <a:solidFill>
              <a:srgbClr val="D8D8D8"/>
            </a:solidFill>
          </a:ln>
        </p:spPr>
        <p:txBody>
          <a:bodyPr wrap="square"/>
          <a:lstStyle/>
          <a:p>
            <a:r>
              <a:rPr lang="en-US" sz="1500" b="1"/>
              <a:t>36 / 100 = 36%</a:t>
            </a:r>
            <a:endParaRPr lang="en-US" sz="1500"/>
          </a:p>
        </p:txBody>
      </p:sp>
      <p:sp>
        <p:nvSpPr>
          <p:cNvPr id="10" name="TableCell1_3"/>
          <p:cNvSpPr txBox="1"/>
          <p:nvPr/>
        </p:nvSpPr>
        <p:spPr>
          <a:xfrm>
            <a:off x="8840000" y="1560000"/>
            <a:ext cx="3650000" cy="460000"/>
          </a:xfrm>
          <a:prstGeom prst="rect">
            <a:avLst/>
          </a:prstGeom>
          <a:solidFill>
            <a:srgbClr val="EEF3F8"/>
          </a:solidFill>
          <a:ln>
            <a:solidFill>
              <a:srgbClr val="D8D8D8"/>
            </a:solidFill>
          </a:ln>
        </p:spPr>
        <p:txBody>
          <a:bodyPr wrap="square"/>
          <a:lstStyle/>
          <a:p>
            <a:r>
              <a:rPr lang="en-US" sz="1500" b="1"/>
              <a:t>72 / 100 = 72%</a:t>
            </a:r>
            <a:endParaRPr lang="en-US" sz="1500"/>
          </a:p>
        </p:txBody>
      </p:sp>
      <p:sp>
        <p:nvSpPr>
          <p:cNvPr id="11" name="TableCell2_0"/>
          <p:cNvSpPr txBox="1"/>
          <p:nvPr/>
        </p:nvSpPr>
        <p:spPr>
          <a:xfrm>
            <a:off x="840000" y="2020000"/>
            <a:ext cx="2300000" cy="460000"/>
          </a:xfrm>
          <a:prstGeom prst="rect">
            <a:avLst/>
          </a:prstGeom>
          <a:solidFill>
            <a:srgbClr val="EEF3F8"/>
          </a:solidFill>
          <a:ln>
            <a:solidFill>
              <a:srgbClr val="D8D8D8"/>
            </a:solidFill>
          </a:ln>
        </p:spPr>
        <p:txBody>
          <a:bodyPr wrap="square"/>
          <a:lstStyle/>
          <a:p>
            <a:r>
              <a:rPr lang="en-US" sz="1500" b="1"/>
              <a:t>V3 Title</a:t>
            </a:r>
            <a:endParaRPr lang="en-US" sz="1500"/>
          </a:p>
        </p:txBody>
      </p:sp>
      <p:sp>
        <p:nvSpPr>
          <p:cNvPr id="12" name="TableCell2_1"/>
          <p:cNvSpPr txBox="1"/>
          <p:nvPr/>
        </p:nvSpPr>
        <p:spPr>
          <a:xfrm>
            <a:off x="3140000" y="2020000"/>
            <a:ext cx="2050000" cy="460000"/>
          </a:xfrm>
          <a:prstGeom prst="rect">
            <a:avLst/>
          </a:prstGeom>
          <a:solidFill>
            <a:srgbClr val="EEF3F8"/>
          </a:solidFill>
          <a:ln>
            <a:solidFill>
              <a:srgbClr val="D8D8D8"/>
            </a:solidFill>
          </a:ln>
        </p:spPr>
        <p:txBody>
          <a:bodyPr wrap="square"/>
          <a:lstStyle/>
          <a:p>
            <a:r>
              <a:rPr lang="en-US" sz="1500" b="1"/>
              <a:t>Gemini</a:t>
            </a:r>
            <a:endParaRPr lang="en-US" sz="1500"/>
          </a:p>
        </p:txBody>
      </p:sp>
      <p:sp>
        <p:nvSpPr>
          <p:cNvPr id="13" name="TableCell2_2"/>
          <p:cNvSpPr txBox="1"/>
          <p:nvPr/>
        </p:nvSpPr>
        <p:spPr>
          <a:xfrm>
            <a:off x="5190000" y="2020000"/>
            <a:ext cx="3650000" cy="460000"/>
          </a:xfrm>
          <a:prstGeom prst="rect">
            <a:avLst/>
          </a:prstGeom>
          <a:solidFill>
            <a:srgbClr val="EEF3F8"/>
          </a:solidFill>
          <a:ln>
            <a:solidFill>
              <a:srgbClr val="D8D8D8"/>
            </a:solidFill>
          </a:ln>
        </p:spPr>
        <p:txBody>
          <a:bodyPr wrap="square"/>
          <a:lstStyle/>
          <a:p>
            <a:r>
              <a:rPr lang="en-US" sz="1500" b="1"/>
              <a:t>63 / 100 = 63%</a:t>
            </a:r>
            <a:endParaRPr lang="en-US" sz="1500"/>
          </a:p>
        </p:txBody>
      </p:sp>
      <p:sp>
        <p:nvSpPr>
          <p:cNvPr id="14" name="TableCell2_3"/>
          <p:cNvSpPr txBox="1"/>
          <p:nvPr/>
        </p:nvSpPr>
        <p:spPr>
          <a:xfrm>
            <a:off x="8840000" y="2020000"/>
            <a:ext cx="3650000" cy="460000"/>
          </a:xfrm>
          <a:prstGeom prst="rect">
            <a:avLst/>
          </a:prstGeom>
          <a:solidFill>
            <a:srgbClr val="EEF3F8"/>
          </a:solidFill>
          <a:ln>
            <a:solidFill>
              <a:srgbClr val="D8D8D8"/>
            </a:solidFill>
          </a:ln>
        </p:spPr>
        <p:txBody>
          <a:bodyPr wrap="square"/>
          <a:lstStyle/>
          <a:p>
            <a:r>
              <a:rPr lang="en-US" sz="1500" b="1"/>
              <a:t>78 / 100 = 78%</a:t>
            </a:r>
            <a:endParaRPr lang="en-US" sz="1500"/>
          </a:p>
        </p:txBody>
      </p:sp>
      <p:sp>
        <p:nvSpPr>
          <p:cNvPr id="15" name="TableCell3_0"/>
          <p:cNvSpPr txBox="1"/>
          <p:nvPr/>
        </p:nvSpPr>
        <p:spPr>
          <a:xfrm>
            <a:off x="840000" y="2480000"/>
            <a:ext cx="2300000" cy="460000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txBody>
          <a:bodyPr wrap="square"/>
          <a:lstStyle/>
          <a:p>
            <a:r>
              <a:rPr lang="en-US" sz="1500" b="1"/>
              <a:t>V6 Need</a:t>
            </a:r>
            <a:endParaRPr lang="en-US" sz="1500"/>
          </a:p>
        </p:txBody>
      </p:sp>
      <p:sp>
        <p:nvSpPr>
          <p:cNvPr id="16" name="TableCell3_1"/>
          <p:cNvSpPr txBox="1"/>
          <p:nvPr/>
        </p:nvSpPr>
        <p:spPr>
          <a:xfrm>
            <a:off x="3140000" y="2480000"/>
            <a:ext cx="2050000" cy="460000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txBody>
          <a:bodyPr wrap="square"/>
          <a:lstStyle/>
          <a:p>
            <a:r>
              <a:rPr lang="en-US" sz="1500" b="1"/>
              <a:t>OpenAI</a:t>
            </a:r>
            <a:endParaRPr lang="en-US" sz="1500"/>
          </a:p>
        </p:txBody>
      </p:sp>
      <p:sp>
        <p:nvSpPr>
          <p:cNvPr id="17" name="TableCell3_2"/>
          <p:cNvSpPr txBox="1"/>
          <p:nvPr/>
        </p:nvSpPr>
        <p:spPr>
          <a:xfrm>
            <a:off x="5190000" y="2480000"/>
            <a:ext cx="3650000" cy="460000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txBody>
          <a:bodyPr wrap="square"/>
          <a:lstStyle/>
          <a:p>
            <a:r>
              <a:rPr lang="en-US" sz="1500" b="1"/>
              <a:t>23 / 87 = 26%</a:t>
            </a:r>
            <a:endParaRPr lang="en-US" sz="1500"/>
          </a:p>
        </p:txBody>
      </p:sp>
      <p:sp>
        <p:nvSpPr>
          <p:cNvPr id="18" name="TableCell3_3"/>
          <p:cNvSpPr txBox="1"/>
          <p:nvPr/>
        </p:nvSpPr>
        <p:spPr>
          <a:xfrm>
            <a:off x="8840000" y="2480000"/>
            <a:ext cx="3650000" cy="460000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txBody>
          <a:bodyPr wrap="square"/>
          <a:lstStyle/>
          <a:p>
            <a:r>
              <a:rPr lang="en-US" sz="1500" b="1"/>
              <a:t>46 / 87 = 53%</a:t>
            </a:r>
            <a:endParaRPr lang="en-US" sz="1500"/>
          </a:p>
        </p:txBody>
      </p:sp>
      <p:sp>
        <p:nvSpPr>
          <p:cNvPr id="19" name="TableCell4_0"/>
          <p:cNvSpPr txBox="1"/>
          <p:nvPr/>
        </p:nvSpPr>
        <p:spPr>
          <a:xfrm>
            <a:off x="840000" y="2940000"/>
            <a:ext cx="2300000" cy="460000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txBody>
          <a:bodyPr wrap="square"/>
          <a:lstStyle/>
          <a:p>
            <a:r>
              <a:rPr lang="en-US" sz="1500" b="1"/>
              <a:t>V6 Need</a:t>
            </a:r>
            <a:endParaRPr lang="en-US" sz="1500"/>
          </a:p>
        </p:txBody>
      </p:sp>
      <p:sp>
        <p:nvSpPr>
          <p:cNvPr id="20" name="TableCell4_1"/>
          <p:cNvSpPr txBox="1"/>
          <p:nvPr/>
        </p:nvSpPr>
        <p:spPr>
          <a:xfrm>
            <a:off x="3140000" y="2940000"/>
            <a:ext cx="2050000" cy="460000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txBody>
          <a:bodyPr wrap="square"/>
          <a:lstStyle/>
          <a:p>
            <a:r>
              <a:rPr lang="en-US" sz="1500" b="1"/>
              <a:t>Gemini</a:t>
            </a:r>
            <a:endParaRPr lang="en-US" sz="1500"/>
          </a:p>
        </p:txBody>
      </p:sp>
      <p:sp>
        <p:nvSpPr>
          <p:cNvPr id="21" name="TableCell4_2"/>
          <p:cNvSpPr txBox="1"/>
          <p:nvPr/>
        </p:nvSpPr>
        <p:spPr>
          <a:xfrm>
            <a:off x="5190000" y="2940000"/>
            <a:ext cx="3650000" cy="460000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txBody>
          <a:bodyPr wrap="square"/>
          <a:lstStyle/>
          <a:p>
            <a:r>
              <a:rPr lang="en-US" sz="1500" b="1"/>
              <a:t>28 / 87 = 32%</a:t>
            </a:r>
            <a:endParaRPr lang="en-US" sz="1500"/>
          </a:p>
        </p:txBody>
      </p:sp>
      <p:sp>
        <p:nvSpPr>
          <p:cNvPr id="22" name="TableCell4_3"/>
          <p:cNvSpPr txBox="1"/>
          <p:nvPr/>
        </p:nvSpPr>
        <p:spPr>
          <a:xfrm>
            <a:off x="8840000" y="2940000"/>
            <a:ext cx="3650000" cy="460000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txBody>
          <a:bodyPr wrap="square"/>
          <a:lstStyle/>
          <a:p>
            <a:r>
              <a:rPr lang="en-US" sz="1500" b="1"/>
              <a:t>44 / 87 = 51%</a:t>
            </a:r>
            <a:endParaRPr lang="en-US" sz="1500"/>
          </a:p>
        </p:txBody>
      </p:sp>
      <p:sp>
        <p:nvSpPr>
          <p:cNvPr id="23" name="TableCell5_0"/>
          <p:cNvSpPr txBox="1"/>
          <p:nvPr/>
        </p:nvSpPr>
        <p:spPr>
          <a:xfrm>
            <a:off x="840000" y="3400000"/>
            <a:ext cx="2300000" cy="460000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txBody>
          <a:bodyPr wrap="square"/>
          <a:lstStyle/>
          <a:p>
            <a:r>
              <a:rPr lang="en-US" sz="1500" b="1"/>
              <a:t>V2 Topic</a:t>
            </a:r>
            <a:endParaRPr lang="en-US" sz="1500"/>
          </a:p>
        </p:txBody>
      </p:sp>
      <p:sp>
        <p:nvSpPr>
          <p:cNvPr id="24" name="TableCell5_1"/>
          <p:cNvSpPr txBox="1"/>
          <p:nvPr/>
        </p:nvSpPr>
        <p:spPr>
          <a:xfrm>
            <a:off x="3140000" y="3400000"/>
            <a:ext cx="2050000" cy="460000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txBody>
          <a:bodyPr wrap="square"/>
          <a:lstStyle/>
          <a:p>
            <a:r>
              <a:rPr lang="en-US" sz="1500" b="1"/>
              <a:t>OpenAI</a:t>
            </a:r>
            <a:endParaRPr lang="en-US" sz="1500"/>
          </a:p>
        </p:txBody>
      </p:sp>
      <p:sp>
        <p:nvSpPr>
          <p:cNvPr id="25" name="TableCell5_2"/>
          <p:cNvSpPr txBox="1"/>
          <p:nvPr/>
        </p:nvSpPr>
        <p:spPr>
          <a:xfrm>
            <a:off x="5190000" y="3400000"/>
            <a:ext cx="3650000" cy="460000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txBody>
          <a:bodyPr wrap="square"/>
          <a:lstStyle/>
          <a:p>
            <a:r>
              <a:rPr lang="en-US" sz="1500" b="1"/>
              <a:t>14 / 250 = 6%</a:t>
            </a:r>
            <a:endParaRPr lang="en-US" sz="1500"/>
          </a:p>
        </p:txBody>
      </p:sp>
      <p:sp>
        <p:nvSpPr>
          <p:cNvPr id="26" name="TableCell5_3"/>
          <p:cNvSpPr txBox="1"/>
          <p:nvPr/>
        </p:nvSpPr>
        <p:spPr>
          <a:xfrm>
            <a:off x="8840000" y="3400000"/>
            <a:ext cx="3650000" cy="460000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txBody>
          <a:bodyPr wrap="square"/>
          <a:lstStyle/>
          <a:p>
            <a:r>
              <a:rPr lang="en-US" sz="1500" b="1"/>
              <a:t>58 / 250 = 23%</a:t>
            </a:r>
            <a:endParaRPr lang="en-US" sz="1500"/>
          </a:p>
        </p:txBody>
      </p:sp>
      <p:sp>
        <p:nvSpPr>
          <p:cNvPr id="27" name="TableCell6_0"/>
          <p:cNvSpPr txBox="1"/>
          <p:nvPr/>
        </p:nvSpPr>
        <p:spPr>
          <a:xfrm>
            <a:off x="840000" y="3860000"/>
            <a:ext cx="2300000" cy="460000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txBody>
          <a:bodyPr wrap="square"/>
          <a:lstStyle/>
          <a:p>
            <a:r>
              <a:rPr lang="en-US" sz="1500" b="1"/>
              <a:t>V2 Topic</a:t>
            </a:r>
            <a:endParaRPr lang="en-US" sz="1500"/>
          </a:p>
        </p:txBody>
      </p:sp>
      <p:sp>
        <p:nvSpPr>
          <p:cNvPr id="28" name="TableCell6_1"/>
          <p:cNvSpPr txBox="1"/>
          <p:nvPr/>
        </p:nvSpPr>
        <p:spPr>
          <a:xfrm>
            <a:off x="3140000" y="3860000"/>
            <a:ext cx="2050000" cy="460000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txBody>
          <a:bodyPr wrap="square"/>
          <a:lstStyle/>
          <a:p>
            <a:r>
              <a:rPr lang="en-US" sz="1500" b="1"/>
              <a:t>Gemini</a:t>
            </a:r>
            <a:endParaRPr lang="en-US" sz="1500"/>
          </a:p>
        </p:txBody>
      </p:sp>
      <p:sp>
        <p:nvSpPr>
          <p:cNvPr id="29" name="TableCell6_2"/>
          <p:cNvSpPr txBox="1"/>
          <p:nvPr/>
        </p:nvSpPr>
        <p:spPr>
          <a:xfrm>
            <a:off x="5190000" y="3860000"/>
            <a:ext cx="3650000" cy="460000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txBody>
          <a:bodyPr wrap="square"/>
          <a:lstStyle/>
          <a:p>
            <a:r>
              <a:rPr lang="en-US" sz="1500" b="1"/>
              <a:t>6 / 250 = 2%</a:t>
            </a:r>
            <a:endParaRPr lang="en-US" sz="1500"/>
          </a:p>
        </p:txBody>
      </p:sp>
      <p:sp>
        <p:nvSpPr>
          <p:cNvPr id="30" name="TableCell6_3"/>
          <p:cNvSpPr txBox="1"/>
          <p:nvPr/>
        </p:nvSpPr>
        <p:spPr>
          <a:xfrm>
            <a:off x="8840000" y="3860000"/>
            <a:ext cx="3650000" cy="460000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txBody>
          <a:bodyPr wrap="square"/>
          <a:lstStyle/>
          <a:p>
            <a:r>
              <a:rPr lang="en-US" sz="1500" b="1"/>
              <a:t>41 / 250 = 16%</a:t>
            </a:r>
            <a:endParaRPr lang="en-US" sz="1500"/>
          </a:p>
        </p:txBody>
      </p:sp>
      <p:sp>
        <p:nvSpPr>
          <p:cNvPr id="31" name="TableCell7_0"/>
          <p:cNvSpPr txBox="1"/>
          <p:nvPr/>
        </p:nvSpPr>
        <p:spPr>
          <a:xfrm>
            <a:off x="840000" y="4320000"/>
            <a:ext cx="2300000" cy="460000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txBody>
          <a:bodyPr wrap="square"/>
          <a:lstStyle/>
          <a:p>
            <a:r>
              <a:rPr lang="en-US" sz="1500" b="1"/>
              <a:t>V1 Meta</a:t>
            </a:r>
            <a:endParaRPr lang="en-US" sz="1500"/>
          </a:p>
        </p:txBody>
      </p:sp>
      <p:sp>
        <p:nvSpPr>
          <p:cNvPr id="32" name="TableCell7_1"/>
          <p:cNvSpPr txBox="1"/>
          <p:nvPr/>
        </p:nvSpPr>
        <p:spPr>
          <a:xfrm>
            <a:off x="3140000" y="4320000"/>
            <a:ext cx="2050000" cy="460000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txBody>
          <a:bodyPr wrap="square"/>
          <a:lstStyle/>
          <a:p>
            <a:r>
              <a:rPr lang="en-US" sz="1500" b="1"/>
              <a:t>OpenAI</a:t>
            </a:r>
            <a:endParaRPr lang="en-US" sz="1500"/>
          </a:p>
        </p:txBody>
      </p:sp>
      <p:sp>
        <p:nvSpPr>
          <p:cNvPr id="33" name="TableCell7_2"/>
          <p:cNvSpPr txBox="1"/>
          <p:nvPr/>
        </p:nvSpPr>
        <p:spPr>
          <a:xfrm>
            <a:off x="5190000" y="4320000"/>
            <a:ext cx="3650000" cy="460000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txBody>
          <a:bodyPr wrap="square"/>
          <a:lstStyle/>
          <a:p>
            <a:r>
              <a:rPr lang="en-US" sz="1500" b="1"/>
              <a:t>6 / 85 = 7%</a:t>
            </a:r>
            <a:endParaRPr lang="en-US" sz="1500"/>
          </a:p>
        </p:txBody>
      </p:sp>
      <p:sp>
        <p:nvSpPr>
          <p:cNvPr id="34" name="TableCell7_3"/>
          <p:cNvSpPr txBox="1"/>
          <p:nvPr/>
        </p:nvSpPr>
        <p:spPr>
          <a:xfrm>
            <a:off x="8840000" y="4320000"/>
            <a:ext cx="3650000" cy="460000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txBody>
          <a:bodyPr wrap="square"/>
          <a:lstStyle/>
          <a:p>
            <a:r>
              <a:rPr lang="en-US" sz="1500" b="1"/>
              <a:t>32 / 85 = 38%</a:t>
            </a:r>
            <a:endParaRPr lang="en-US" sz="1500"/>
          </a:p>
        </p:txBody>
      </p:sp>
      <p:sp>
        <p:nvSpPr>
          <p:cNvPr id="35" name="TableCell8_0"/>
          <p:cNvSpPr txBox="1"/>
          <p:nvPr/>
        </p:nvSpPr>
        <p:spPr>
          <a:xfrm>
            <a:off x="840000" y="4780000"/>
            <a:ext cx="2300000" cy="460000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txBody>
          <a:bodyPr wrap="square"/>
          <a:lstStyle/>
          <a:p>
            <a:r>
              <a:rPr lang="en-US" sz="1500" b="1"/>
              <a:t>V1 Meta</a:t>
            </a:r>
            <a:endParaRPr lang="en-US" sz="1500"/>
          </a:p>
        </p:txBody>
      </p:sp>
      <p:sp>
        <p:nvSpPr>
          <p:cNvPr id="36" name="TableCell8_1"/>
          <p:cNvSpPr txBox="1"/>
          <p:nvPr/>
        </p:nvSpPr>
        <p:spPr>
          <a:xfrm>
            <a:off x="3140000" y="4780000"/>
            <a:ext cx="2050000" cy="460000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txBody>
          <a:bodyPr wrap="square"/>
          <a:lstStyle/>
          <a:p>
            <a:r>
              <a:rPr lang="en-US" sz="1500" b="1"/>
              <a:t>Gemini</a:t>
            </a:r>
            <a:endParaRPr lang="en-US" sz="1500"/>
          </a:p>
        </p:txBody>
      </p:sp>
      <p:sp>
        <p:nvSpPr>
          <p:cNvPr id="37" name="TableCell8_2"/>
          <p:cNvSpPr txBox="1"/>
          <p:nvPr/>
        </p:nvSpPr>
        <p:spPr>
          <a:xfrm>
            <a:off x="5190000" y="4780000"/>
            <a:ext cx="3650000" cy="460000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txBody>
          <a:bodyPr wrap="square"/>
          <a:lstStyle/>
          <a:p>
            <a:r>
              <a:rPr lang="en-US" sz="1500" b="1"/>
              <a:t>1 / 85 = 1%</a:t>
            </a:r>
            <a:endParaRPr lang="en-US" sz="1500"/>
          </a:p>
        </p:txBody>
      </p:sp>
      <p:sp>
        <p:nvSpPr>
          <p:cNvPr id="38" name="TableCell8_3"/>
          <p:cNvSpPr txBox="1"/>
          <p:nvPr/>
        </p:nvSpPr>
        <p:spPr>
          <a:xfrm>
            <a:off x="8840000" y="4780000"/>
            <a:ext cx="3650000" cy="460000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txBody>
          <a:bodyPr wrap="square"/>
          <a:lstStyle/>
          <a:p>
            <a:r>
              <a:rPr lang="en-US" sz="1500" b="1"/>
              <a:t>23 / 85 = 27%</a:t>
            </a:r>
            <a:endParaRPr lang="en-US" sz="1500"/>
          </a:p>
        </p:txBody>
      </p:sp>
      <p:sp>
        <p:nvSpPr>
          <p:cNvPr id="40" name="Takeaways"/>
          <p:cNvSpPr txBox="1"/>
          <p:nvPr/>
        </p:nvSpPr>
        <p:spPr>
          <a:xfrm>
            <a:off x="650000" y="6000000"/>
            <a:ext cx="12000000" cy="1000000"/>
          </a:xfrm>
          <a:prstGeom prst="rect">
            <a:avLst/>
          </a:prstGeom>
          <a:solidFill>
            <a:srgbClr val="EAF5EF"/>
          </a:solidFill>
          <a:ln>
            <a:solidFill>
              <a:srgbClr val="A8D0B8"/>
            </a:solidFill>
          </a:ln>
        </p:spPr>
        <p:txBody>
          <a:bodyPr wrap="square"/>
          <a:lstStyle/>
          <a:p>
            <a:r>
              <a:rPr lang="en-US" sz="2000" b="1"/>
              <a:t>Takeaways: V3 is the title baseline; V6 is the strongest realistic non-title variant. V2 has more prompts because it splits topics. Results support the GEO framing.</a:t>
            </a:r>
            <a:endParaRPr lang="en-US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F2933"/>
      </a:dk1>
      <a:lt1>
        <a:srgbClr val="FFFFFF"/>
      </a:lt1>
      <a:dk2>
        <a:srgbClr val="44546A"/>
      </a:dk2>
      <a:lt2>
        <a:srgbClr val="E7E6E6"/>
      </a:lt2>
      <a:accent1>
        <a:srgbClr val="2F6F9F"/>
      </a:accent1>
      <a:accent2>
        <a:srgbClr val="70AD47"/>
      </a:accent2>
      <a:accent3>
        <a:srgbClr val="FFC000"/>
      </a:accent3>
      <a:accent4>
        <a:srgbClr val="5B9BD5"/>
      </a:accent4>
      <a:accent5>
        <a:srgbClr val="A5A5A5"/>
      </a:accent5>
      <a:accent6>
        <a:srgbClr val="ED7D31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</a:majorFont>
      <a:minorFont>
        <a:latin typeface="Aptos"/>
      </a:minorFont>
    </a:fontScheme>
    <a:fmtScheme name="Office">
      <a:fillStyleLst/>
      <a:lnStyleLst/>
      <a:effectStyleLst/>
      <a:bgFillStyleLst/>
    </a:fmtScheme>
  </a:themeElements>
</a:theme>
</file>